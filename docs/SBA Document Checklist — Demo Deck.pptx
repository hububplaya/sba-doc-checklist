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walk through the problem you brought to us, what you asked for, what we built, how you'll get your data in and use it day to day, then a live demo and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pain point you described to us — not knowing which applications are stalled was the single biggest thing you called out. Everything we built starts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were upfront from the start that we wouldn't build all five in one pass. Next slide covers exactly what we chose to build first,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honest here: this took real prioritization. I'll walk through the specific decisions behind how it handles your data next, and cover a few things we deliberately left out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deliberate design choice — early on we considered a simpler version that only added new rows, but landed here specifically so re-uploading is always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whole day-to-day loop. Now let's see it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running app here. Log in, land on the import screen, import the sample data, then walk the table, a status update, and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watching. Happy to answer questions on anything shown, or on the trade-offs behind what we didn't build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2800" y="812800"/>
            <a:ext cx="609600" cy="38100"/>
          </a:xfrm>
          <a:prstGeom prst="roundRect">
            <a:avLst>
              <a:gd name="adj" fmla="val 50000"/>
            </a:avLst>
          </a:prstGeom>
          <a:solidFill>
            <a:srgbClr val="C2703D"/>
          </a:solidFill>
          <a:ln/>
        </p:spPr>
      </p:sp>
      <p:sp>
        <p:nvSpPr>
          <p:cNvPr id="3" name="Text 1"/>
          <p:cNvSpPr/>
          <p:nvPr/>
        </p:nvSpPr>
        <p:spPr>
          <a:xfrm>
            <a:off x="812800" y="1003300"/>
            <a:ext cx="9156700" cy="718820"/>
          </a:xfrm>
          <a:prstGeom prst="rect">
            <a:avLst/>
          </a:prstGeom>
          <a:noFill/>
          <a:ln/>
        </p:spPr>
        <p:txBody>
          <a:bodyPr wrap="square" lIns="0" tIns="0" rIns="0" bIns="0" rtlCol="0" anchor="t">
            <a:normAutofit/>
          </a:bodyPr>
          <a:lstStyle/>
          <a:p>
            <a:pPr algn="l" indent="0" marL="0">
              <a:lnSpc>
                <a:spcPts val="5460"/>
              </a:lnSpc>
              <a:buNone/>
            </a:pPr>
            <a:r>
              <a:rPr lang="en-US" sz="5200" dirty="0">
                <a:solidFill>
                  <a:srgbClr val="FAF7F0"/>
                </a:solidFill>
                <a:latin typeface="Source Serif 4" pitchFamily="34" charset="0"/>
                <a:ea typeface="Source Serif 4" pitchFamily="34" charset="-122"/>
                <a:cs typeface="Source Serif 4" pitchFamily="34" charset="-120"/>
              </a:rPr>
              <a:t>SBA Document Checklist</a:t>
            </a:r>
            <a:endParaRPr lang="en-US" sz="5200" dirty="0"/>
          </a:p>
        </p:txBody>
      </p:sp>
      <p:sp>
        <p:nvSpPr>
          <p:cNvPr id="4" name="Text 2"/>
          <p:cNvSpPr/>
          <p:nvPr/>
        </p:nvSpPr>
        <p:spPr>
          <a:xfrm>
            <a:off x="812800" y="1849120"/>
            <a:ext cx="784860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DD8"/>
                </a:solidFill>
                <a:latin typeface="Helvetica Neue" pitchFamily="34" charset="0"/>
                <a:ea typeface="Helvetica Neue" pitchFamily="34" charset="-122"/>
                <a:cs typeface="Helvetica Neue" pitchFamily="34" charset="-120"/>
              </a:rPr>
              <a:t>Replacing the shared spreadsheet for tracking loan documents</a:t>
            </a:r>
            <a:endParaRPr lang="en-US" sz="1800" dirty="0"/>
          </a:p>
        </p:txBody>
      </p:sp>
      <p:sp>
        <p:nvSpPr>
          <p:cNvPr id="5" name="Text 3"/>
          <p:cNvSpPr/>
          <p:nvPr/>
        </p:nvSpPr>
        <p:spPr>
          <a:xfrm>
            <a:off x="812800" y="5831840"/>
            <a:ext cx="23036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A0"/>
                </a:solidFill>
                <a:latin typeface="Helvetica Neue" pitchFamily="34" charset="0"/>
                <a:ea typeface="Helvetica Neue" pitchFamily="34" charset="-122"/>
                <a:cs typeface="Helvetica Neue" pitchFamily="34" charset="-120"/>
              </a:rPr>
              <a:t>Built for the loan operations team</a:t>
            </a:r>
            <a:endParaRPr lang="en-US" sz="1200" dirty="0"/>
          </a:p>
        </p:txBody>
      </p:sp>
      <p:sp>
        <p:nvSpPr>
          <p:cNvPr id="6" name="Text 4"/>
          <p:cNvSpPr/>
          <p:nvPr/>
        </p:nvSpPr>
        <p:spPr>
          <a:xfrm>
            <a:off x="9989883" y="5831840"/>
            <a:ext cx="14401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A0"/>
                </a:solidFill>
                <a:latin typeface="Helvetica Neue" pitchFamily="34" charset="0"/>
                <a:ea typeface="Helvetica Neue" pitchFamily="34" charset="-122"/>
                <a:cs typeface="Helvetica Neue" pitchFamily="34" charset="-120"/>
              </a:rPr>
              <a:t>Product walkthrough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812800" y="812800"/>
            <a:ext cx="10883392" cy="521970"/>
          </a:xfrm>
          <a:prstGeom prst="rect">
            <a:avLst/>
          </a:prstGeom>
          <a:noFill/>
          <a:ln/>
        </p:spPr>
        <p:txBody>
          <a:bodyPr wrap="square" lIns="0" tIns="0" rIns="0" bIns="0" rtlCol="0" anchor="t">
            <a:normAutofit/>
          </a:bodyPr>
          <a:lstStyle/>
          <a:p>
            <a:pPr algn="l" indent="0" marL="0">
              <a:lnSpc>
                <a:spcPts val="3910"/>
              </a:lnSpc>
              <a:buNone/>
            </a:pPr>
            <a:r>
              <a:rPr lang="en-US" sz="3400" dirty="0">
                <a:solidFill>
                  <a:srgbClr val="14213D"/>
                </a:solidFill>
                <a:latin typeface="Source Serif 4" pitchFamily="34" charset="0"/>
                <a:ea typeface="Source Serif 4" pitchFamily="34" charset="-122"/>
                <a:cs typeface="Source Serif 4" pitchFamily="34" charset="-120"/>
              </a:rPr>
              <a:t>The problem</a:t>
            </a:r>
            <a:endParaRPr lang="en-US" sz="3400" dirty="0"/>
          </a:p>
        </p:txBody>
      </p:sp>
      <p:sp>
        <p:nvSpPr>
          <p:cNvPr id="3" name="Text 1"/>
          <p:cNvSpPr/>
          <p:nvPr/>
        </p:nvSpPr>
        <p:spPr>
          <a:xfrm>
            <a:off x="812800" y="1563370"/>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657"/>
                </a:solidFill>
                <a:latin typeface="Helvetica Neue" pitchFamily="34" charset="0"/>
                <a:ea typeface="Helvetica Neue" pitchFamily="34" charset="-122"/>
                <a:cs typeface="Helvetica Neue" pitchFamily="34" charset="-120"/>
              </a:rPr>
              <a:t>Two processors and a team lead currently track every SBA loan document by hand, in a shared spreadsheet. Up to 12 document types per application, 50 to 75 applications active at any time.</a:t>
            </a:r>
            <a:endParaRPr lang="en-US" sz="1500" dirty="0"/>
          </a:p>
        </p:txBody>
      </p:sp>
      <p:sp>
        <p:nvSpPr>
          <p:cNvPr id="4" name="Shape 2"/>
          <p:cNvSpPr/>
          <p:nvPr/>
        </p:nvSpPr>
        <p:spPr>
          <a:xfrm>
            <a:off x="812800" y="2350770"/>
            <a:ext cx="10566400" cy="1132840"/>
          </a:xfrm>
          <a:prstGeom prst="roundRect">
            <a:avLst>
              <a:gd name="adj" fmla="val 11211"/>
            </a:avLst>
          </a:prstGeom>
          <a:solidFill>
            <a:srgbClr val="14213D"/>
          </a:solidFill>
          <a:ln/>
        </p:spPr>
      </p:sp>
      <p:sp>
        <p:nvSpPr>
          <p:cNvPr id="5" name="Text 3"/>
          <p:cNvSpPr/>
          <p:nvPr/>
        </p:nvSpPr>
        <p:spPr>
          <a:xfrm>
            <a:off x="1168400" y="2630170"/>
            <a:ext cx="10150856" cy="327660"/>
          </a:xfrm>
          <a:prstGeom prst="rect">
            <a:avLst/>
          </a:prstGeom>
          <a:noFill/>
          <a:ln/>
        </p:spPr>
        <p:txBody>
          <a:bodyPr wrap="square" lIns="0" tIns="0" rIns="0" bIns="0" rtlCol="0" anchor="t">
            <a:normAutofit/>
          </a:bodyPr>
          <a:lstStyle/>
          <a:p>
            <a:pPr algn="l" indent="0" marL="0">
              <a:lnSpc>
                <a:spcPts val="2380"/>
              </a:lnSpc>
              <a:buNone/>
            </a:pPr>
            <a:r>
              <a:rPr lang="en-US" sz="1700" i="1" dirty="0">
                <a:solidFill>
                  <a:srgbClr val="FAF7F0"/>
                </a:solidFill>
                <a:latin typeface="Helvetica Neue" pitchFamily="34" charset="0"/>
                <a:ea typeface="Helvetica Neue" pitchFamily="34" charset="-122"/>
                <a:cs typeface="Helvetica Neue" pitchFamily="34" charset="-120"/>
              </a:rPr>
              <a:t>"We don't know which applications are stalled — until it's too late."</a:t>
            </a:r>
            <a:endParaRPr lang="en-US" sz="1700" dirty="0"/>
          </a:p>
        </p:txBody>
      </p:sp>
      <p:sp>
        <p:nvSpPr>
          <p:cNvPr id="6" name="Text 4"/>
          <p:cNvSpPr/>
          <p:nvPr/>
        </p:nvSpPr>
        <p:spPr>
          <a:xfrm>
            <a:off x="1168400" y="3008630"/>
            <a:ext cx="101508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B90A0"/>
                </a:solidFill>
                <a:latin typeface="Helvetica Neue" pitchFamily="34" charset="0"/>
                <a:ea typeface="Helvetica Neue" pitchFamily="34" charset="-122"/>
                <a:cs typeface="Helvetica Neue" pitchFamily="34" charset="-120"/>
              </a:rPr>
              <a:t>— the loan operations team</a:t>
            </a:r>
            <a:endParaRPr lang="en-US" sz="1100" dirty="0"/>
          </a:p>
        </p:txBody>
      </p:sp>
      <p:sp>
        <p:nvSpPr>
          <p:cNvPr id="7" name="Shape 5"/>
          <p:cNvSpPr/>
          <p:nvPr/>
        </p:nvSpPr>
        <p:spPr>
          <a:xfrm>
            <a:off x="815975" y="3740785"/>
            <a:ext cx="3380296" cy="1076198"/>
          </a:xfrm>
          <a:prstGeom prst="roundRect">
            <a:avLst>
              <a:gd name="adj" fmla="val 9146"/>
            </a:avLst>
          </a:prstGeom>
          <a:solidFill>
            <a:srgbClr val="FFFFFF"/>
          </a:solidFill>
          <a:ln w="6350">
            <a:solidFill>
              <a:srgbClr val="E3DDD0"/>
            </a:solidFill>
            <a:prstDash val="solid"/>
          </a:ln>
        </p:spPr>
      </p:sp>
      <p:sp>
        <p:nvSpPr>
          <p:cNvPr id="8" name="Text 6"/>
          <p:cNvSpPr/>
          <p:nvPr/>
        </p:nvSpPr>
        <p:spPr>
          <a:xfrm>
            <a:off x="1045464" y="3970274"/>
            <a:ext cx="30089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Things fall through the cracks</a:t>
            </a:r>
            <a:endParaRPr lang="en-US" sz="1300" dirty="0"/>
          </a:p>
        </p:txBody>
      </p:sp>
      <p:sp>
        <p:nvSpPr>
          <p:cNvPr id="9" name="Text 7"/>
          <p:cNvSpPr/>
          <p:nvPr/>
        </p:nvSpPr>
        <p:spPr>
          <a:xfrm>
            <a:off x="1045464" y="4231894"/>
            <a:ext cx="3008957"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No easy way to see which applications are stalled waiting on documents</a:t>
            </a:r>
            <a:endParaRPr lang="en-US" sz="1000" dirty="0"/>
          </a:p>
        </p:txBody>
      </p:sp>
      <p:sp>
        <p:nvSpPr>
          <p:cNvPr id="10" name="Shape 8"/>
          <p:cNvSpPr/>
          <p:nvPr/>
        </p:nvSpPr>
        <p:spPr>
          <a:xfrm>
            <a:off x="4405820" y="3740785"/>
            <a:ext cx="3380359" cy="1076198"/>
          </a:xfrm>
          <a:prstGeom prst="roundRect">
            <a:avLst>
              <a:gd name="adj" fmla="val 9146"/>
            </a:avLst>
          </a:prstGeom>
          <a:solidFill>
            <a:srgbClr val="FFFFFF"/>
          </a:solidFill>
          <a:ln w="6350">
            <a:solidFill>
              <a:srgbClr val="E3DDD0"/>
            </a:solidFill>
            <a:prstDash val="solid"/>
          </a:ln>
        </p:spPr>
      </p:sp>
      <p:sp>
        <p:nvSpPr>
          <p:cNvPr id="11" name="Text 9"/>
          <p:cNvSpPr/>
          <p:nvPr/>
        </p:nvSpPr>
        <p:spPr>
          <a:xfrm>
            <a:off x="4635309" y="3970274"/>
            <a:ext cx="3009022"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Expirations cause rework</a:t>
            </a:r>
            <a:endParaRPr lang="en-US" sz="1300" dirty="0"/>
          </a:p>
        </p:txBody>
      </p:sp>
      <p:sp>
        <p:nvSpPr>
          <p:cNvPr id="12" name="Text 10"/>
          <p:cNvSpPr/>
          <p:nvPr/>
        </p:nvSpPr>
        <p:spPr>
          <a:xfrm>
            <a:off x="4635309" y="4231894"/>
            <a:ext cx="3009022"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Bank statements (90 days) and tax returns (3 years) expire quietly</a:t>
            </a:r>
            <a:endParaRPr lang="en-US" sz="1000" dirty="0"/>
          </a:p>
        </p:txBody>
      </p:sp>
      <p:sp>
        <p:nvSpPr>
          <p:cNvPr id="13" name="Shape 11"/>
          <p:cNvSpPr/>
          <p:nvPr/>
        </p:nvSpPr>
        <p:spPr>
          <a:xfrm>
            <a:off x="7995729" y="3740785"/>
            <a:ext cx="3380296" cy="1076198"/>
          </a:xfrm>
          <a:prstGeom prst="roundRect">
            <a:avLst>
              <a:gd name="adj" fmla="val 9146"/>
            </a:avLst>
          </a:prstGeom>
          <a:solidFill>
            <a:srgbClr val="FFFFFF"/>
          </a:solidFill>
          <a:ln w="6350">
            <a:solidFill>
              <a:srgbClr val="E3DDD0"/>
            </a:solidFill>
            <a:prstDash val="solid"/>
          </a:ln>
        </p:spPr>
      </p:sp>
      <p:sp>
        <p:nvSpPr>
          <p:cNvPr id="14" name="Text 12"/>
          <p:cNvSpPr/>
          <p:nvPr/>
        </p:nvSpPr>
        <p:spPr>
          <a:xfrm>
            <a:off x="8225218" y="3970274"/>
            <a:ext cx="30089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Reporting is manual</a:t>
            </a:r>
            <a:endParaRPr lang="en-US" sz="1300" dirty="0"/>
          </a:p>
        </p:txBody>
      </p:sp>
      <p:sp>
        <p:nvSpPr>
          <p:cNvPr id="15" name="Text 13"/>
          <p:cNvSpPr/>
          <p:nvPr/>
        </p:nvSpPr>
        <p:spPr>
          <a:xfrm>
            <a:off x="8225218" y="4231894"/>
            <a:ext cx="3008957"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The weekly leadership summary is compiled by hand, every Monday</a:t>
            </a:r>
            <a:endParaRPr lang="en-US" sz="1000" dirty="0"/>
          </a:p>
        </p:txBody>
      </p:sp>
      <p:sp>
        <p:nvSpPr>
          <p:cNvPr id="16" name="Text 14"/>
          <p:cNvSpPr/>
          <p:nvPr/>
        </p:nvSpPr>
        <p:spPr>
          <a:xfrm>
            <a:off x="812800" y="6256020"/>
            <a:ext cx="220683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SBA Document Checklist — Demo</a:t>
            </a:r>
            <a:endParaRPr lang="en-US" sz="1100" dirty="0"/>
          </a:p>
        </p:txBody>
      </p:sp>
      <p:sp>
        <p:nvSpPr>
          <p:cNvPr id="17" name="Text 15"/>
          <p:cNvSpPr/>
          <p:nvPr/>
        </p:nvSpPr>
        <p:spPr>
          <a:xfrm>
            <a:off x="11223815" y="6256020"/>
            <a:ext cx="20618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812800" y="812800"/>
            <a:ext cx="10883392" cy="521970"/>
          </a:xfrm>
          <a:prstGeom prst="rect">
            <a:avLst/>
          </a:prstGeom>
          <a:noFill/>
          <a:ln/>
        </p:spPr>
        <p:txBody>
          <a:bodyPr wrap="square" lIns="0" tIns="0" rIns="0" bIns="0" rtlCol="0" anchor="t">
            <a:normAutofit/>
          </a:bodyPr>
          <a:lstStyle/>
          <a:p>
            <a:pPr algn="l" indent="0" marL="0">
              <a:lnSpc>
                <a:spcPts val="3910"/>
              </a:lnSpc>
              <a:buNone/>
            </a:pPr>
            <a:r>
              <a:rPr lang="en-US" sz="3400" dirty="0">
                <a:solidFill>
                  <a:srgbClr val="14213D"/>
                </a:solidFill>
                <a:latin typeface="Source Serif 4" pitchFamily="34" charset="0"/>
                <a:ea typeface="Source Serif 4" pitchFamily="34" charset="-122"/>
                <a:cs typeface="Source Serif 4" pitchFamily="34" charset="-120"/>
              </a:rPr>
              <a:t>What you told us you wanted</a:t>
            </a:r>
            <a:endParaRPr lang="en-US" sz="3400" dirty="0"/>
          </a:p>
        </p:txBody>
      </p:sp>
      <p:sp>
        <p:nvSpPr>
          <p:cNvPr id="3" name="Shape 1"/>
          <p:cNvSpPr/>
          <p:nvPr/>
        </p:nvSpPr>
        <p:spPr>
          <a:xfrm>
            <a:off x="815975" y="1541145"/>
            <a:ext cx="5187950" cy="822198"/>
          </a:xfrm>
          <a:prstGeom prst="roundRect">
            <a:avLst>
              <a:gd name="adj" fmla="val 11971"/>
            </a:avLst>
          </a:prstGeom>
          <a:solidFill>
            <a:srgbClr val="FFFFFF"/>
          </a:solidFill>
          <a:ln w="6350">
            <a:solidFill>
              <a:srgbClr val="E3DDD0"/>
            </a:solidFill>
            <a:prstDash val="solid"/>
          </a:ln>
        </p:spPr>
      </p:sp>
      <p:sp>
        <p:nvSpPr>
          <p:cNvPr id="4" name="Shape 2"/>
          <p:cNvSpPr/>
          <p:nvPr/>
        </p:nvSpPr>
        <p:spPr>
          <a:xfrm>
            <a:off x="1020064" y="1745233"/>
            <a:ext cx="304800" cy="304800"/>
          </a:xfrm>
          <a:prstGeom prst="roundRect">
            <a:avLst>
              <a:gd name="adj" fmla="val 50000"/>
            </a:avLst>
          </a:prstGeom>
          <a:solidFill>
            <a:srgbClr val="14213D"/>
          </a:solidFill>
          <a:ln/>
        </p:spPr>
      </p:sp>
      <p:sp>
        <p:nvSpPr>
          <p:cNvPr id="5" name="Text 3"/>
          <p:cNvSpPr/>
          <p:nvPr/>
        </p:nvSpPr>
        <p:spPr>
          <a:xfrm>
            <a:off x="1130046" y="1790954"/>
            <a:ext cx="1355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7F0"/>
                </a:solidFill>
                <a:latin typeface="Helvetica Neue" pitchFamily="34" charset="0"/>
                <a:ea typeface="Helvetica Neue" pitchFamily="34" charset="-122"/>
                <a:cs typeface="Helvetica Neue" pitchFamily="34" charset="-120"/>
              </a:rPr>
              <a:t>1</a:t>
            </a:r>
            <a:endParaRPr lang="en-US" sz="1200" dirty="0"/>
          </a:p>
        </p:txBody>
      </p:sp>
      <p:sp>
        <p:nvSpPr>
          <p:cNvPr id="6" name="Text 4"/>
          <p:cNvSpPr/>
          <p:nvPr/>
        </p:nvSpPr>
        <p:spPr>
          <a:xfrm>
            <a:off x="1451864" y="1745233"/>
            <a:ext cx="293773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Document status tracking</a:t>
            </a:r>
            <a:endParaRPr lang="en-US" sz="1300" dirty="0"/>
          </a:p>
        </p:txBody>
      </p:sp>
      <p:sp>
        <p:nvSpPr>
          <p:cNvPr id="7" name="Text 5"/>
          <p:cNvSpPr/>
          <p:nvPr/>
        </p:nvSpPr>
        <p:spPr>
          <a:xfrm>
            <a:off x="1451864" y="1981454"/>
            <a:ext cx="293773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See where every document stands, per application</a:t>
            </a:r>
            <a:endParaRPr lang="en-US" sz="1000" dirty="0"/>
          </a:p>
        </p:txBody>
      </p:sp>
      <p:sp>
        <p:nvSpPr>
          <p:cNvPr id="8" name="Shape 6"/>
          <p:cNvSpPr/>
          <p:nvPr/>
        </p:nvSpPr>
        <p:spPr>
          <a:xfrm>
            <a:off x="6188075" y="1541145"/>
            <a:ext cx="5187950" cy="822198"/>
          </a:xfrm>
          <a:prstGeom prst="roundRect">
            <a:avLst>
              <a:gd name="adj" fmla="val 11971"/>
            </a:avLst>
          </a:prstGeom>
          <a:solidFill>
            <a:srgbClr val="FFFFFF"/>
          </a:solidFill>
          <a:ln w="6350">
            <a:solidFill>
              <a:srgbClr val="E3DDD0"/>
            </a:solidFill>
            <a:prstDash val="solid"/>
          </a:ln>
        </p:spPr>
      </p:sp>
      <p:sp>
        <p:nvSpPr>
          <p:cNvPr id="9" name="Shape 7"/>
          <p:cNvSpPr/>
          <p:nvPr/>
        </p:nvSpPr>
        <p:spPr>
          <a:xfrm>
            <a:off x="6392164" y="1745233"/>
            <a:ext cx="304800" cy="304800"/>
          </a:xfrm>
          <a:prstGeom prst="roundRect">
            <a:avLst>
              <a:gd name="adj" fmla="val 50000"/>
            </a:avLst>
          </a:prstGeom>
          <a:solidFill>
            <a:srgbClr val="14213D"/>
          </a:solidFill>
          <a:ln/>
        </p:spPr>
      </p:sp>
      <p:sp>
        <p:nvSpPr>
          <p:cNvPr id="10" name="Text 8"/>
          <p:cNvSpPr/>
          <p:nvPr/>
        </p:nvSpPr>
        <p:spPr>
          <a:xfrm>
            <a:off x="6502146" y="1790954"/>
            <a:ext cx="1355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7F0"/>
                </a:solidFill>
                <a:latin typeface="Helvetica Neue" pitchFamily="34" charset="0"/>
                <a:ea typeface="Helvetica Neue" pitchFamily="34" charset="-122"/>
                <a:cs typeface="Helvetica Neue" pitchFamily="34" charset="-120"/>
              </a:rPr>
              <a:t>2</a:t>
            </a:r>
            <a:endParaRPr lang="en-US" sz="1200" dirty="0"/>
          </a:p>
        </p:txBody>
      </p:sp>
      <p:sp>
        <p:nvSpPr>
          <p:cNvPr id="11" name="Text 9"/>
          <p:cNvSpPr/>
          <p:nvPr/>
        </p:nvSpPr>
        <p:spPr>
          <a:xfrm>
            <a:off x="6823964" y="1745233"/>
            <a:ext cx="300339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Outstanding item visibility</a:t>
            </a:r>
            <a:endParaRPr lang="en-US" sz="1300" dirty="0"/>
          </a:p>
        </p:txBody>
      </p:sp>
      <p:sp>
        <p:nvSpPr>
          <p:cNvPr id="12" name="Text 10"/>
          <p:cNvSpPr/>
          <p:nvPr/>
        </p:nvSpPr>
        <p:spPr>
          <a:xfrm>
            <a:off x="6823964" y="1981454"/>
            <a:ext cx="300339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Know which applications need attention, at a glance</a:t>
            </a:r>
            <a:endParaRPr lang="en-US" sz="1000" dirty="0"/>
          </a:p>
        </p:txBody>
      </p:sp>
      <p:sp>
        <p:nvSpPr>
          <p:cNvPr id="13" name="Shape 11"/>
          <p:cNvSpPr/>
          <p:nvPr/>
        </p:nvSpPr>
        <p:spPr>
          <a:xfrm>
            <a:off x="815975" y="2547493"/>
            <a:ext cx="5187950" cy="822198"/>
          </a:xfrm>
          <a:prstGeom prst="roundRect">
            <a:avLst>
              <a:gd name="adj" fmla="val 11971"/>
            </a:avLst>
          </a:prstGeom>
          <a:solidFill>
            <a:srgbClr val="FFFFFF"/>
          </a:solidFill>
          <a:ln w="6350">
            <a:solidFill>
              <a:srgbClr val="E3DDD0"/>
            </a:solidFill>
            <a:prstDash val="solid"/>
          </a:ln>
        </p:spPr>
      </p:sp>
      <p:sp>
        <p:nvSpPr>
          <p:cNvPr id="14" name="Shape 12"/>
          <p:cNvSpPr/>
          <p:nvPr/>
        </p:nvSpPr>
        <p:spPr>
          <a:xfrm>
            <a:off x="1020064" y="2751581"/>
            <a:ext cx="304800" cy="304800"/>
          </a:xfrm>
          <a:prstGeom prst="roundRect">
            <a:avLst>
              <a:gd name="adj" fmla="val 50000"/>
            </a:avLst>
          </a:prstGeom>
          <a:solidFill>
            <a:srgbClr val="14213D"/>
          </a:solidFill>
          <a:ln/>
        </p:spPr>
      </p:sp>
      <p:sp>
        <p:nvSpPr>
          <p:cNvPr id="15" name="Text 13"/>
          <p:cNvSpPr/>
          <p:nvPr/>
        </p:nvSpPr>
        <p:spPr>
          <a:xfrm>
            <a:off x="1130046" y="2797302"/>
            <a:ext cx="1355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7F0"/>
                </a:solidFill>
                <a:latin typeface="Helvetica Neue" pitchFamily="34" charset="0"/>
                <a:ea typeface="Helvetica Neue" pitchFamily="34" charset="-122"/>
                <a:cs typeface="Helvetica Neue" pitchFamily="34" charset="-120"/>
              </a:rPr>
              <a:t>3</a:t>
            </a:r>
            <a:endParaRPr lang="en-US" sz="1200" dirty="0"/>
          </a:p>
        </p:txBody>
      </p:sp>
      <p:sp>
        <p:nvSpPr>
          <p:cNvPr id="16" name="Text 14"/>
          <p:cNvSpPr/>
          <p:nvPr/>
        </p:nvSpPr>
        <p:spPr>
          <a:xfrm>
            <a:off x="1451864" y="2751581"/>
            <a:ext cx="2806594"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Expiration date tracking</a:t>
            </a:r>
            <a:endParaRPr lang="en-US" sz="1300" dirty="0"/>
          </a:p>
        </p:txBody>
      </p:sp>
      <p:sp>
        <p:nvSpPr>
          <p:cNvPr id="17" name="Text 15"/>
          <p:cNvSpPr/>
          <p:nvPr/>
        </p:nvSpPr>
        <p:spPr>
          <a:xfrm>
            <a:off x="1451864" y="2987802"/>
            <a:ext cx="2806594"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Flag time-sensitive documents before they lapse</a:t>
            </a:r>
            <a:endParaRPr lang="en-US" sz="1000" dirty="0"/>
          </a:p>
        </p:txBody>
      </p:sp>
      <p:sp>
        <p:nvSpPr>
          <p:cNvPr id="18" name="Shape 16"/>
          <p:cNvSpPr/>
          <p:nvPr/>
        </p:nvSpPr>
        <p:spPr>
          <a:xfrm>
            <a:off x="6188075" y="2547493"/>
            <a:ext cx="5187950" cy="822198"/>
          </a:xfrm>
          <a:prstGeom prst="roundRect">
            <a:avLst>
              <a:gd name="adj" fmla="val 11971"/>
            </a:avLst>
          </a:prstGeom>
          <a:solidFill>
            <a:srgbClr val="FFFFFF"/>
          </a:solidFill>
          <a:ln w="6350">
            <a:solidFill>
              <a:srgbClr val="E3DDD0"/>
            </a:solidFill>
            <a:prstDash val="solid"/>
          </a:ln>
        </p:spPr>
      </p:sp>
      <p:sp>
        <p:nvSpPr>
          <p:cNvPr id="19" name="Shape 17"/>
          <p:cNvSpPr/>
          <p:nvPr/>
        </p:nvSpPr>
        <p:spPr>
          <a:xfrm>
            <a:off x="6392164" y="2751581"/>
            <a:ext cx="304800" cy="304800"/>
          </a:xfrm>
          <a:prstGeom prst="roundRect">
            <a:avLst>
              <a:gd name="adj" fmla="val 50000"/>
            </a:avLst>
          </a:prstGeom>
          <a:solidFill>
            <a:srgbClr val="14213D"/>
          </a:solidFill>
          <a:ln/>
        </p:spPr>
      </p:sp>
      <p:sp>
        <p:nvSpPr>
          <p:cNvPr id="20" name="Text 18"/>
          <p:cNvSpPr/>
          <p:nvPr/>
        </p:nvSpPr>
        <p:spPr>
          <a:xfrm>
            <a:off x="6502146" y="2797302"/>
            <a:ext cx="1355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7F0"/>
                </a:solidFill>
                <a:latin typeface="Helvetica Neue" pitchFamily="34" charset="0"/>
                <a:ea typeface="Helvetica Neue" pitchFamily="34" charset="-122"/>
                <a:cs typeface="Helvetica Neue" pitchFamily="34" charset="-120"/>
              </a:rPr>
              <a:t>4</a:t>
            </a:r>
            <a:endParaRPr lang="en-US" sz="1200" dirty="0"/>
          </a:p>
        </p:txBody>
      </p:sp>
      <p:sp>
        <p:nvSpPr>
          <p:cNvPr id="21" name="Text 19"/>
          <p:cNvSpPr/>
          <p:nvPr/>
        </p:nvSpPr>
        <p:spPr>
          <a:xfrm>
            <a:off x="6823964" y="2751581"/>
            <a:ext cx="216699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Email alerts</a:t>
            </a:r>
            <a:endParaRPr lang="en-US" sz="1300" dirty="0"/>
          </a:p>
        </p:txBody>
      </p:sp>
      <p:sp>
        <p:nvSpPr>
          <p:cNvPr id="22" name="Text 20"/>
          <p:cNvSpPr/>
          <p:nvPr/>
        </p:nvSpPr>
        <p:spPr>
          <a:xfrm>
            <a:off x="6823964" y="2987802"/>
            <a:ext cx="2166999"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A heads-up before something expires</a:t>
            </a:r>
            <a:endParaRPr lang="en-US" sz="1000" dirty="0"/>
          </a:p>
        </p:txBody>
      </p:sp>
      <p:sp>
        <p:nvSpPr>
          <p:cNvPr id="23" name="Shape 21"/>
          <p:cNvSpPr/>
          <p:nvPr/>
        </p:nvSpPr>
        <p:spPr>
          <a:xfrm>
            <a:off x="815975" y="3604640"/>
            <a:ext cx="5175250" cy="822198"/>
          </a:xfrm>
          <a:prstGeom prst="roundRect">
            <a:avLst>
              <a:gd name="adj" fmla="val 11971"/>
            </a:avLst>
          </a:prstGeom>
          <a:solidFill>
            <a:srgbClr val="FFFFFF"/>
          </a:solidFill>
          <a:ln w="6350">
            <a:solidFill>
              <a:srgbClr val="E3DDD0"/>
            </a:solidFill>
            <a:prstDash val="solid"/>
          </a:ln>
        </p:spPr>
      </p:sp>
      <p:sp>
        <p:nvSpPr>
          <p:cNvPr id="24" name="Shape 22"/>
          <p:cNvSpPr/>
          <p:nvPr/>
        </p:nvSpPr>
        <p:spPr>
          <a:xfrm>
            <a:off x="1020064" y="3808730"/>
            <a:ext cx="304800" cy="304800"/>
          </a:xfrm>
          <a:prstGeom prst="roundRect">
            <a:avLst>
              <a:gd name="adj" fmla="val 50000"/>
            </a:avLst>
          </a:prstGeom>
          <a:solidFill>
            <a:srgbClr val="14213D"/>
          </a:solidFill>
          <a:ln/>
        </p:spPr>
      </p:sp>
      <p:sp>
        <p:nvSpPr>
          <p:cNvPr id="25" name="Text 23"/>
          <p:cNvSpPr/>
          <p:nvPr/>
        </p:nvSpPr>
        <p:spPr>
          <a:xfrm>
            <a:off x="1130046" y="3854450"/>
            <a:ext cx="1355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7F0"/>
                </a:solidFill>
                <a:latin typeface="Helvetica Neue" pitchFamily="34" charset="0"/>
                <a:ea typeface="Helvetica Neue" pitchFamily="34" charset="-122"/>
                <a:cs typeface="Helvetica Neue" pitchFamily="34" charset="-120"/>
              </a:rPr>
              <a:t>5</a:t>
            </a:r>
            <a:endParaRPr lang="en-US" sz="1200" dirty="0"/>
          </a:p>
        </p:txBody>
      </p:sp>
      <p:sp>
        <p:nvSpPr>
          <p:cNvPr id="26" name="Text 24"/>
          <p:cNvSpPr/>
          <p:nvPr/>
        </p:nvSpPr>
        <p:spPr>
          <a:xfrm>
            <a:off x="1451864" y="3808730"/>
            <a:ext cx="272666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Helvetica Neue" pitchFamily="34" charset="0"/>
                <a:ea typeface="Helvetica Neue" pitchFamily="34" charset="-122"/>
                <a:cs typeface="Helvetica Neue" pitchFamily="34" charset="-120"/>
              </a:rPr>
              <a:t>A leadership dashboard</a:t>
            </a:r>
            <a:endParaRPr lang="en-US" sz="1300" dirty="0"/>
          </a:p>
        </p:txBody>
      </p:sp>
      <p:sp>
        <p:nvSpPr>
          <p:cNvPr id="27" name="Text 25"/>
          <p:cNvSpPr/>
          <p:nvPr/>
        </p:nvSpPr>
        <p:spPr>
          <a:xfrm>
            <a:off x="1451864" y="4044950"/>
            <a:ext cx="2726669"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Replace the manual Monday pipeline summary</a:t>
            </a:r>
            <a:endParaRPr lang="en-US" sz="1000" dirty="0"/>
          </a:p>
        </p:txBody>
      </p:sp>
      <p:sp>
        <p:nvSpPr>
          <p:cNvPr id="28" name="Text 26"/>
          <p:cNvSpPr/>
          <p:nvPr/>
        </p:nvSpPr>
        <p:spPr>
          <a:xfrm>
            <a:off x="812800" y="6256020"/>
            <a:ext cx="220683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SBA Document Checklist — Demo</a:t>
            </a:r>
            <a:endParaRPr lang="en-US" sz="1100" dirty="0"/>
          </a:p>
        </p:txBody>
      </p:sp>
      <p:sp>
        <p:nvSpPr>
          <p:cNvPr id="29" name="Text 27"/>
          <p:cNvSpPr/>
          <p:nvPr/>
        </p:nvSpPr>
        <p:spPr>
          <a:xfrm>
            <a:off x="11223815" y="6256020"/>
            <a:ext cx="20618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812800" y="812800"/>
            <a:ext cx="10883392" cy="521970"/>
          </a:xfrm>
          <a:prstGeom prst="rect">
            <a:avLst/>
          </a:prstGeom>
          <a:noFill/>
          <a:ln/>
        </p:spPr>
        <p:txBody>
          <a:bodyPr wrap="square" lIns="0" tIns="0" rIns="0" bIns="0" rtlCol="0" anchor="t">
            <a:normAutofit/>
          </a:bodyPr>
          <a:lstStyle/>
          <a:p>
            <a:pPr algn="l" indent="0" marL="0">
              <a:lnSpc>
                <a:spcPts val="3910"/>
              </a:lnSpc>
              <a:buNone/>
            </a:pPr>
            <a:r>
              <a:rPr lang="en-US" sz="3400" dirty="0">
                <a:solidFill>
                  <a:srgbClr val="14213D"/>
                </a:solidFill>
                <a:latin typeface="Source Serif 4" pitchFamily="34" charset="0"/>
                <a:ea typeface="Source Serif 4" pitchFamily="34" charset="-122"/>
                <a:cs typeface="Source Serif 4" pitchFamily="34" charset="-120"/>
              </a:rPr>
              <a:t>What we built</a:t>
            </a:r>
            <a:endParaRPr lang="en-US" sz="3400" dirty="0"/>
          </a:p>
        </p:txBody>
      </p:sp>
      <p:sp>
        <p:nvSpPr>
          <p:cNvPr id="3" name="Text 1"/>
          <p:cNvSpPr/>
          <p:nvPr/>
        </p:nvSpPr>
        <p:spPr>
          <a:xfrm>
            <a:off x="812800" y="148717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Helvetica Neue" pitchFamily="34" charset="0"/>
                <a:ea typeface="Helvetica Neue" pitchFamily="34" charset="-122"/>
                <a:cs typeface="Helvetica Neue" pitchFamily="34" charset="-120"/>
              </a:rPr>
              <a:t>All five — here's how each one shows up in the tool</a:t>
            </a:r>
            <a:endParaRPr lang="en-US" sz="1300" dirty="0"/>
          </a:p>
        </p:txBody>
      </p:sp>
      <p:sp>
        <p:nvSpPr>
          <p:cNvPr id="4" name="Shape 2"/>
          <p:cNvSpPr/>
          <p:nvPr/>
        </p:nvSpPr>
        <p:spPr>
          <a:xfrm>
            <a:off x="815975" y="1899284"/>
            <a:ext cx="10560050" cy="585978"/>
          </a:xfrm>
          <a:custGeom>
            <a:avLst/>
            <a:gdLst/>
            <a:ahLst/>
            <a:cxnLst/>
            <a:rect l="l" t="t" r="r" b="b"/>
            <a:pathLst>
              <a:path w="10560050" h="585978">
                <a:moveTo>
                  <a:pt x="98425" y="0"/>
                </a:moveTo>
                <a:lnTo>
                  <a:pt x="10461625" y="0"/>
                </a:lnTo>
                <a:arcTo hR="98425" wR="98425" stAng="16200000" swAng="5400000"/>
                <a:lnTo>
                  <a:pt x="10560050" y="585978"/>
                </a:lnTo>
                <a:lnTo>
                  <a:pt x="0" y="585978"/>
                </a:lnTo>
                <a:lnTo>
                  <a:pt x="0" y="98425"/>
                </a:lnTo>
                <a:arcTo hR="98425" wR="98425" stAng="10800000" swAng="5400000"/>
                <a:close/>
              </a:path>
            </a:pathLst>
          </a:custGeom>
          <a:solidFill>
            <a:srgbClr val="FFFFFF"/>
          </a:solidFill>
          <a:ln w="6350">
            <a:solidFill>
              <a:srgbClr val="E3DDD0"/>
            </a:solidFill>
            <a:prstDash val="solid"/>
          </a:ln>
        </p:spPr>
      </p:sp>
      <p:sp>
        <p:nvSpPr>
          <p:cNvPr id="5" name="Shape 3"/>
          <p:cNvSpPr/>
          <p:nvPr/>
        </p:nvSpPr>
        <p:spPr>
          <a:xfrm>
            <a:off x="1020064" y="2065274"/>
            <a:ext cx="254000" cy="254000"/>
          </a:xfrm>
          <a:prstGeom prst="roundRect">
            <a:avLst>
              <a:gd name="adj" fmla="val 50000"/>
            </a:avLst>
          </a:prstGeom>
          <a:solidFill>
            <a:srgbClr val="E7F3EC"/>
          </a:solidFill>
          <a:ln/>
        </p:spPr>
      </p:sp>
      <p:sp>
        <p:nvSpPr>
          <p:cNvPr id="6" name="Text 4"/>
          <p:cNvSpPr/>
          <p:nvPr/>
        </p:nvSpPr>
        <p:spPr>
          <a:xfrm>
            <a:off x="1094740" y="2094483"/>
            <a:ext cx="1554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2F6F4F"/>
                </a:solidFill>
                <a:latin typeface="Helvetica Neue" pitchFamily="34" charset="0"/>
                <a:ea typeface="Helvetica Neue" pitchFamily="34" charset="-122"/>
                <a:cs typeface="Helvetica Neue" pitchFamily="34" charset="-120"/>
              </a:rPr>
              <a:t>✓</a:t>
            </a:r>
            <a:endParaRPr lang="en-US" sz="1100" dirty="0"/>
          </a:p>
        </p:txBody>
      </p:sp>
      <p:sp>
        <p:nvSpPr>
          <p:cNvPr id="7" name="Text 5"/>
          <p:cNvSpPr/>
          <p:nvPr/>
        </p:nvSpPr>
        <p:spPr>
          <a:xfrm>
            <a:off x="1451864" y="2100833"/>
            <a:ext cx="274701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Status tracking</a:t>
            </a:r>
            <a:endParaRPr lang="en-US" sz="1200" dirty="0"/>
          </a:p>
        </p:txBody>
      </p:sp>
      <p:sp>
        <p:nvSpPr>
          <p:cNvPr id="8" name="Text 6"/>
          <p:cNvSpPr/>
          <p:nvPr/>
        </p:nvSpPr>
        <p:spPr>
          <a:xfrm>
            <a:off x="4296664" y="2103374"/>
            <a:ext cx="324291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Click a document, change its status — updates instantly</a:t>
            </a:r>
            <a:endParaRPr lang="en-US" sz="1000" dirty="0"/>
          </a:p>
        </p:txBody>
      </p:sp>
      <p:sp>
        <p:nvSpPr>
          <p:cNvPr id="9" name="Shape 7"/>
          <p:cNvSpPr/>
          <p:nvPr/>
        </p:nvSpPr>
        <p:spPr>
          <a:xfrm>
            <a:off x="815975" y="2491612"/>
            <a:ext cx="10560050" cy="585978"/>
          </a:xfrm>
          <a:prstGeom prst="rect">
            <a:avLst/>
          </a:prstGeom>
          <a:solidFill>
            <a:srgbClr val="FFFFFF"/>
          </a:solidFill>
          <a:ln w="6350">
            <a:solidFill>
              <a:srgbClr val="E3DDD0"/>
            </a:solidFill>
            <a:prstDash val="solid"/>
          </a:ln>
        </p:spPr>
      </p:sp>
      <p:sp>
        <p:nvSpPr>
          <p:cNvPr id="10" name="Shape 8"/>
          <p:cNvSpPr/>
          <p:nvPr/>
        </p:nvSpPr>
        <p:spPr>
          <a:xfrm>
            <a:off x="1020064" y="2657602"/>
            <a:ext cx="254000" cy="254000"/>
          </a:xfrm>
          <a:prstGeom prst="roundRect">
            <a:avLst>
              <a:gd name="adj" fmla="val 50000"/>
            </a:avLst>
          </a:prstGeom>
          <a:solidFill>
            <a:srgbClr val="E7F3EC"/>
          </a:solidFill>
          <a:ln/>
        </p:spPr>
      </p:sp>
      <p:sp>
        <p:nvSpPr>
          <p:cNvPr id="11" name="Text 9"/>
          <p:cNvSpPr/>
          <p:nvPr/>
        </p:nvSpPr>
        <p:spPr>
          <a:xfrm>
            <a:off x="1094740" y="2686811"/>
            <a:ext cx="1554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2F6F4F"/>
                </a:solidFill>
                <a:latin typeface="Helvetica Neue" pitchFamily="34" charset="0"/>
                <a:ea typeface="Helvetica Neue" pitchFamily="34" charset="-122"/>
                <a:cs typeface="Helvetica Neue" pitchFamily="34" charset="-120"/>
              </a:rPr>
              <a:t>✓</a:t>
            </a:r>
            <a:endParaRPr lang="en-US" sz="1100" dirty="0"/>
          </a:p>
        </p:txBody>
      </p:sp>
      <p:sp>
        <p:nvSpPr>
          <p:cNvPr id="12" name="Text 10"/>
          <p:cNvSpPr/>
          <p:nvPr/>
        </p:nvSpPr>
        <p:spPr>
          <a:xfrm>
            <a:off x="1451864" y="2693161"/>
            <a:ext cx="274701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Outstanding visibility</a:t>
            </a:r>
            <a:endParaRPr lang="en-US" sz="1200" dirty="0"/>
          </a:p>
        </p:txBody>
      </p:sp>
      <p:sp>
        <p:nvSpPr>
          <p:cNvPr id="13" name="Text 11"/>
          <p:cNvSpPr/>
          <p:nvPr/>
        </p:nvSpPr>
        <p:spPr>
          <a:xfrm>
            <a:off x="4296664" y="2695702"/>
            <a:ext cx="385399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Applications are flagged automatically — nothing to check by hand</a:t>
            </a:r>
            <a:endParaRPr lang="en-US" sz="1000" dirty="0"/>
          </a:p>
        </p:txBody>
      </p:sp>
      <p:sp>
        <p:nvSpPr>
          <p:cNvPr id="14" name="Shape 12"/>
          <p:cNvSpPr/>
          <p:nvPr/>
        </p:nvSpPr>
        <p:spPr>
          <a:xfrm>
            <a:off x="815975" y="3083940"/>
            <a:ext cx="10560050" cy="585978"/>
          </a:xfrm>
          <a:prstGeom prst="rect">
            <a:avLst/>
          </a:prstGeom>
          <a:solidFill>
            <a:srgbClr val="FFFFFF"/>
          </a:solidFill>
          <a:ln w="6350">
            <a:solidFill>
              <a:srgbClr val="E3DDD0"/>
            </a:solidFill>
            <a:prstDash val="solid"/>
          </a:ln>
        </p:spPr>
      </p:sp>
      <p:sp>
        <p:nvSpPr>
          <p:cNvPr id="15" name="Shape 13"/>
          <p:cNvSpPr/>
          <p:nvPr/>
        </p:nvSpPr>
        <p:spPr>
          <a:xfrm>
            <a:off x="1020064" y="3249929"/>
            <a:ext cx="254000" cy="254000"/>
          </a:xfrm>
          <a:prstGeom prst="roundRect">
            <a:avLst>
              <a:gd name="adj" fmla="val 50000"/>
            </a:avLst>
          </a:prstGeom>
          <a:solidFill>
            <a:srgbClr val="E7F3EC"/>
          </a:solidFill>
          <a:ln/>
        </p:spPr>
      </p:sp>
      <p:sp>
        <p:nvSpPr>
          <p:cNvPr id="16" name="Text 14"/>
          <p:cNvSpPr/>
          <p:nvPr/>
        </p:nvSpPr>
        <p:spPr>
          <a:xfrm>
            <a:off x="1094740" y="3279139"/>
            <a:ext cx="1554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2F6F4F"/>
                </a:solidFill>
                <a:latin typeface="Helvetica Neue" pitchFamily="34" charset="0"/>
                <a:ea typeface="Helvetica Neue" pitchFamily="34" charset="-122"/>
                <a:cs typeface="Helvetica Neue" pitchFamily="34" charset="-120"/>
              </a:rPr>
              <a:t>✓</a:t>
            </a:r>
            <a:endParaRPr lang="en-US" sz="1100" dirty="0"/>
          </a:p>
        </p:txBody>
      </p:sp>
      <p:sp>
        <p:nvSpPr>
          <p:cNvPr id="17" name="Text 15"/>
          <p:cNvSpPr/>
          <p:nvPr/>
        </p:nvSpPr>
        <p:spPr>
          <a:xfrm>
            <a:off x="1451864" y="3285489"/>
            <a:ext cx="274701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Expiration tracking</a:t>
            </a:r>
            <a:endParaRPr lang="en-US" sz="1200" dirty="0"/>
          </a:p>
        </p:txBody>
      </p:sp>
      <p:sp>
        <p:nvSpPr>
          <p:cNvPr id="18" name="Text 16"/>
          <p:cNvSpPr/>
          <p:nvPr/>
        </p:nvSpPr>
        <p:spPr>
          <a:xfrm>
            <a:off x="4296664" y="3288029"/>
            <a:ext cx="2886846"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Documents are flagged as they approach expiring</a:t>
            </a:r>
            <a:endParaRPr lang="en-US" sz="1000" dirty="0"/>
          </a:p>
        </p:txBody>
      </p:sp>
      <p:sp>
        <p:nvSpPr>
          <p:cNvPr id="19" name="Shape 17"/>
          <p:cNvSpPr/>
          <p:nvPr/>
        </p:nvSpPr>
        <p:spPr>
          <a:xfrm>
            <a:off x="815975" y="3676269"/>
            <a:ext cx="10560050" cy="585978"/>
          </a:xfrm>
          <a:prstGeom prst="rect">
            <a:avLst/>
          </a:prstGeom>
          <a:solidFill>
            <a:srgbClr val="FFFFFF"/>
          </a:solidFill>
          <a:ln w="6350">
            <a:solidFill>
              <a:srgbClr val="E3DDD0"/>
            </a:solidFill>
            <a:prstDash val="solid"/>
          </a:ln>
        </p:spPr>
      </p:sp>
      <p:sp>
        <p:nvSpPr>
          <p:cNvPr id="20" name="Shape 18"/>
          <p:cNvSpPr/>
          <p:nvPr/>
        </p:nvSpPr>
        <p:spPr>
          <a:xfrm>
            <a:off x="1020064" y="3842257"/>
            <a:ext cx="254000" cy="254000"/>
          </a:xfrm>
          <a:prstGeom prst="roundRect">
            <a:avLst>
              <a:gd name="adj" fmla="val 50000"/>
            </a:avLst>
          </a:prstGeom>
          <a:solidFill>
            <a:srgbClr val="E7F3EC"/>
          </a:solidFill>
          <a:ln/>
        </p:spPr>
      </p:sp>
      <p:sp>
        <p:nvSpPr>
          <p:cNvPr id="21" name="Text 19"/>
          <p:cNvSpPr/>
          <p:nvPr/>
        </p:nvSpPr>
        <p:spPr>
          <a:xfrm>
            <a:off x="1094740" y="3871468"/>
            <a:ext cx="1554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2F6F4F"/>
                </a:solidFill>
                <a:latin typeface="Helvetica Neue" pitchFamily="34" charset="0"/>
                <a:ea typeface="Helvetica Neue" pitchFamily="34" charset="-122"/>
                <a:cs typeface="Helvetica Neue" pitchFamily="34" charset="-120"/>
              </a:rPr>
              <a:t>✓</a:t>
            </a:r>
            <a:endParaRPr lang="en-US" sz="1100" dirty="0"/>
          </a:p>
        </p:txBody>
      </p:sp>
      <p:sp>
        <p:nvSpPr>
          <p:cNvPr id="22" name="Text 20"/>
          <p:cNvSpPr/>
          <p:nvPr/>
        </p:nvSpPr>
        <p:spPr>
          <a:xfrm>
            <a:off x="1451864" y="3877818"/>
            <a:ext cx="274701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Email alerts</a:t>
            </a:r>
            <a:endParaRPr lang="en-US" sz="1200" dirty="0"/>
          </a:p>
        </p:txBody>
      </p:sp>
      <p:sp>
        <p:nvSpPr>
          <p:cNvPr id="23" name="Text 21"/>
          <p:cNvSpPr/>
          <p:nvPr/>
        </p:nvSpPr>
        <p:spPr>
          <a:xfrm>
            <a:off x="4296664" y="3880357"/>
            <a:ext cx="304990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Sent automatically when something's about to expire</a:t>
            </a:r>
            <a:endParaRPr lang="en-US" sz="1000" dirty="0"/>
          </a:p>
        </p:txBody>
      </p:sp>
      <p:sp>
        <p:nvSpPr>
          <p:cNvPr id="24" name="Shape 22"/>
          <p:cNvSpPr/>
          <p:nvPr/>
        </p:nvSpPr>
        <p:spPr>
          <a:xfrm>
            <a:off x="815975" y="4268597"/>
            <a:ext cx="10560050" cy="585978"/>
          </a:xfrm>
          <a:custGeom>
            <a:avLst/>
            <a:gdLst/>
            <a:ahLst/>
            <a:cxnLst/>
            <a:rect l="l" t="t" r="r" b="b"/>
            <a:pathLst>
              <a:path w="10560050" h="585978">
                <a:moveTo>
                  <a:pt x="0" y="0"/>
                </a:moveTo>
                <a:lnTo>
                  <a:pt x="10560050" y="0"/>
                </a:lnTo>
                <a:lnTo>
                  <a:pt x="10560050" y="487553"/>
                </a:lnTo>
                <a:arcTo hR="98425" wR="98425" stAng="0" swAng="5400000"/>
                <a:lnTo>
                  <a:pt x="98425" y="585978"/>
                </a:lnTo>
                <a:arcTo hR="98425" wR="98425" stAng="5400000" swAng="5400000"/>
                <a:lnTo>
                  <a:pt x="0" y="0"/>
                </a:lnTo>
                <a:close/>
              </a:path>
            </a:pathLst>
          </a:custGeom>
          <a:solidFill>
            <a:srgbClr val="FFFFFF"/>
          </a:solidFill>
          <a:ln w="6350">
            <a:solidFill>
              <a:srgbClr val="E3DDD0"/>
            </a:solidFill>
            <a:prstDash val="solid"/>
          </a:ln>
        </p:spPr>
      </p:sp>
      <p:sp>
        <p:nvSpPr>
          <p:cNvPr id="25" name="Shape 23"/>
          <p:cNvSpPr/>
          <p:nvPr/>
        </p:nvSpPr>
        <p:spPr>
          <a:xfrm>
            <a:off x="1020064" y="4434585"/>
            <a:ext cx="254000" cy="254000"/>
          </a:xfrm>
          <a:prstGeom prst="roundRect">
            <a:avLst>
              <a:gd name="adj" fmla="val 50000"/>
            </a:avLst>
          </a:prstGeom>
          <a:solidFill>
            <a:srgbClr val="E7F3EC"/>
          </a:solidFill>
          <a:ln/>
        </p:spPr>
      </p:sp>
      <p:sp>
        <p:nvSpPr>
          <p:cNvPr id="26" name="Text 24"/>
          <p:cNvSpPr/>
          <p:nvPr/>
        </p:nvSpPr>
        <p:spPr>
          <a:xfrm>
            <a:off x="1094740" y="4463796"/>
            <a:ext cx="1554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2F6F4F"/>
                </a:solidFill>
                <a:latin typeface="Helvetica Neue" pitchFamily="34" charset="0"/>
                <a:ea typeface="Helvetica Neue" pitchFamily="34" charset="-122"/>
                <a:cs typeface="Helvetica Neue" pitchFamily="34" charset="-120"/>
              </a:rPr>
              <a:t>✓</a:t>
            </a:r>
            <a:endParaRPr lang="en-US" sz="1100" dirty="0"/>
          </a:p>
        </p:txBody>
      </p:sp>
      <p:sp>
        <p:nvSpPr>
          <p:cNvPr id="27" name="Text 25"/>
          <p:cNvSpPr/>
          <p:nvPr/>
        </p:nvSpPr>
        <p:spPr>
          <a:xfrm>
            <a:off x="1451864" y="4470146"/>
            <a:ext cx="274701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Leadership dashboard</a:t>
            </a:r>
            <a:endParaRPr lang="en-US" sz="1200" dirty="0"/>
          </a:p>
        </p:txBody>
      </p:sp>
      <p:sp>
        <p:nvSpPr>
          <p:cNvPr id="28" name="Text 26"/>
          <p:cNvSpPr/>
          <p:nvPr/>
        </p:nvSpPr>
        <p:spPr>
          <a:xfrm>
            <a:off x="4296664" y="4472685"/>
            <a:ext cx="315566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One page, always current — no manual Monday email</a:t>
            </a:r>
            <a:endParaRPr lang="en-US" sz="1000" dirty="0"/>
          </a:p>
        </p:txBody>
      </p:sp>
      <p:sp>
        <p:nvSpPr>
          <p:cNvPr id="29" name="Text 27"/>
          <p:cNvSpPr/>
          <p:nvPr/>
        </p:nvSpPr>
        <p:spPr>
          <a:xfrm>
            <a:off x="812800" y="6256018"/>
            <a:ext cx="220683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SBA Document Checklist — Demo</a:t>
            </a:r>
            <a:endParaRPr lang="en-US" sz="1100" dirty="0"/>
          </a:p>
        </p:txBody>
      </p:sp>
      <p:sp>
        <p:nvSpPr>
          <p:cNvPr id="30" name="Text 28"/>
          <p:cNvSpPr/>
          <p:nvPr/>
        </p:nvSpPr>
        <p:spPr>
          <a:xfrm>
            <a:off x="11223815" y="6256018"/>
            <a:ext cx="20618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812800" y="812800"/>
            <a:ext cx="10883392" cy="521970"/>
          </a:xfrm>
          <a:prstGeom prst="rect">
            <a:avLst/>
          </a:prstGeom>
          <a:noFill/>
          <a:ln/>
        </p:spPr>
        <p:txBody>
          <a:bodyPr wrap="square" lIns="0" tIns="0" rIns="0" bIns="0" rtlCol="0" anchor="t">
            <a:normAutofit/>
          </a:bodyPr>
          <a:lstStyle/>
          <a:p>
            <a:pPr algn="l" indent="0" marL="0">
              <a:lnSpc>
                <a:spcPts val="3910"/>
              </a:lnSpc>
              <a:buNone/>
            </a:pPr>
            <a:r>
              <a:rPr lang="en-US" sz="3400" dirty="0">
                <a:solidFill>
                  <a:srgbClr val="14213D"/>
                </a:solidFill>
                <a:latin typeface="Source Serif 4" pitchFamily="34" charset="0"/>
                <a:ea typeface="Source Serif 4" pitchFamily="34" charset="-122"/>
                <a:cs typeface="Source Serif 4" pitchFamily="34" charset="-120"/>
              </a:rPr>
              <a:t>Getting your data in</a:t>
            </a:r>
            <a:endParaRPr lang="en-US" sz="3400" dirty="0"/>
          </a:p>
        </p:txBody>
      </p:sp>
      <p:sp>
        <p:nvSpPr>
          <p:cNvPr id="3" name="Text 1"/>
          <p:cNvSpPr/>
          <p:nvPr/>
        </p:nvSpPr>
        <p:spPr>
          <a:xfrm>
            <a:off x="812800" y="1563368"/>
            <a:ext cx="91567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657"/>
                </a:solidFill>
                <a:latin typeface="Helvetica Neue" pitchFamily="34" charset="0"/>
                <a:ea typeface="Helvetica Neue" pitchFamily="34" charset="-122"/>
                <a:cs typeface="Helvetica Neue" pitchFamily="34" charset="-120"/>
              </a:rPr>
              <a:t>The tool starts empty. Upload the same spreadsheet export you already work from, and it's ready in seconds.</a:t>
            </a:r>
            <a:endParaRPr lang="en-US" sz="1500" dirty="0"/>
          </a:p>
        </p:txBody>
      </p:sp>
      <p:sp>
        <p:nvSpPr>
          <p:cNvPr id="4" name="Shape 2"/>
          <p:cNvSpPr/>
          <p:nvPr/>
        </p:nvSpPr>
        <p:spPr>
          <a:xfrm>
            <a:off x="815975" y="2353943"/>
            <a:ext cx="3397250" cy="1581658"/>
          </a:xfrm>
          <a:prstGeom prst="roundRect">
            <a:avLst>
              <a:gd name="adj" fmla="val 6223"/>
            </a:avLst>
          </a:prstGeom>
          <a:solidFill>
            <a:srgbClr val="FFFFFF"/>
          </a:solidFill>
          <a:ln w="6350">
            <a:solidFill>
              <a:srgbClr val="E3DDD0"/>
            </a:solidFill>
            <a:prstDash val="solid"/>
          </a:ln>
        </p:spPr>
      </p:sp>
      <p:pic>
        <p:nvPicPr>
          <p:cNvPr id="5" name="Image 0" descr="rect">    </p:cNvPr>
          <p:cNvPicPr>
            <a:picLocks noChangeAspect="1"/>
          </p:cNvPicPr>
          <p:nvPr/>
        </p:nvPicPr>
        <p:blipFill>
          <a:blip r:embed="rId1"/>
          <a:srcRect l="0" r="0" t="0" b="0"/>
          <a:stretch/>
        </p:blipFill>
        <p:spPr>
          <a:xfrm>
            <a:off x="1070864" y="2608833"/>
            <a:ext cx="355600" cy="355600"/>
          </a:xfrm>
          <a:prstGeom prst="rect">
            <a:avLst/>
          </a:prstGeom>
        </p:spPr>
      </p:pic>
      <p:sp>
        <p:nvSpPr>
          <p:cNvPr id="6" name="Text 3"/>
          <p:cNvSpPr/>
          <p:nvPr/>
        </p:nvSpPr>
        <p:spPr>
          <a:xfrm>
            <a:off x="1070864" y="3053333"/>
            <a:ext cx="2974096"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Nothing gets duplicated</a:t>
            </a:r>
            <a:endParaRPr lang="en-US" sz="1200" dirty="0"/>
          </a:p>
        </p:txBody>
      </p:sp>
      <p:sp>
        <p:nvSpPr>
          <p:cNvPr id="7" name="Text 4"/>
          <p:cNvSpPr/>
          <p:nvPr/>
        </p:nvSpPr>
        <p:spPr>
          <a:xfrm>
            <a:off x="1070864" y="3325112"/>
            <a:ext cx="2974096"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Applications already in the tool are updated, not re-added</a:t>
            </a:r>
            <a:endParaRPr lang="en-US" sz="1000" dirty="0"/>
          </a:p>
        </p:txBody>
      </p:sp>
      <p:sp>
        <p:nvSpPr>
          <p:cNvPr id="8" name="Shape 5"/>
          <p:cNvSpPr/>
          <p:nvPr/>
        </p:nvSpPr>
        <p:spPr>
          <a:xfrm>
            <a:off x="4397375" y="2353943"/>
            <a:ext cx="3397250" cy="1581658"/>
          </a:xfrm>
          <a:prstGeom prst="roundRect">
            <a:avLst>
              <a:gd name="adj" fmla="val 6223"/>
            </a:avLst>
          </a:prstGeom>
          <a:solidFill>
            <a:srgbClr val="FFFFFF"/>
          </a:solidFill>
          <a:ln w="6350">
            <a:solidFill>
              <a:srgbClr val="E3DDD0"/>
            </a:solidFill>
            <a:prstDash val="solid"/>
          </a:ln>
        </p:spPr>
      </p:sp>
      <p:pic>
        <p:nvPicPr>
          <p:cNvPr id="9" name="Image 1" descr="rect">    </p:cNvPr>
          <p:cNvPicPr>
            <a:picLocks noChangeAspect="1"/>
          </p:cNvPicPr>
          <p:nvPr/>
        </p:nvPicPr>
        <p:blipFill>
          <a:blip r:embed="rId2"/>
          <a:srcRect l="0" r="0" t="0" b="0"/>
          <a:stretch/>
        </p:blipFill>
        <p:spPr>
          <a:xfrm>
            <a:off x="4652264" y="2608833"/>
            <a:ext cx="355600" cy="355600"/>
          </a:xfrm>
          <a:prstGeom prst="rect">
            <a:avLst/>
          </a:prstGeom>
        </p:spPr>
      </p:pic>
      <p:sp>
        <p:nvSpPr>
          <p:cNvPr id="10" name="Text 6"/>
          <p:cNvSpPr/>
          <p:nvPr/>
        </p:nvSpPr>
        <p:spPr>
          <a:xfrm>
            <a:off x="4652264" y="3053333"/>
            <a:ext cx="2974096"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Your work is protected</a:t>
            </a:r>
            <a:endParaRPr lang="en-US" sz="1200" dirty="0"/>
          </a:p>
        </p:txBody>
      </p:sp>
      <p:sp>
        <p:nvSpPr>
          <p:cNvPr id="11" name="Text 7"/>
          <p:cNvSpPr/>
          <p:nvPr/>
        </p:nvSpPr>
        <p:spPr>
          <a:xfrm>
            <a:off x="4652264" y="3325112"/>
            <a:ext cx="2974096"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Anything you've already updated in the tool stays exactly as you left it</a:t>
            </a:r>
            <a:endParaRPr lang="en-US" sz="1000" dirty="0"/>
          </a:p>
        </p:txBody>
      </p:sp>
      <p:sp>
        <p:nvSpPr>
          <p:cNvPr id="12" name="Shape 8"/>
          <p:cNvSpPr/>
          <p:nvPr/>
        </p:nvSpPr>
        <p:spPr>
          <a:xfrm>
            <a:off x="7978775" y="2353943"/>
            <a:ext cx="3397250" cy="1581658"/>
          </a:xfrm>
          <a:prstGeom prst="roundRect">
            <a:avLst>
              <a:gd name="adj" fmla="val 6223"/>
            </a:avLst>
          </a:prstGeom>
          <a:solidFill>
            <a:srgbClr val="FFFFFF"/>
          </a:solidFill>
          <a:ln w="6350">
            <a:solidFill>
              <a:srgbClr val="E3DDD0"/>
            </a:solidFill>
            <a:prstDash val="solid"/>
          </a:ln>
        </p:spPr>
      </p:sp>
      <p:pic>
        <p:nvPicPr>
          <p:cNvPr id="13" name="Image 2" descr="rect">    </p:cNvPr>
          <p:cNvPicPr>
            <a:picLocks noChangeAspect="1"/>
          </p:cNvPicPr>
          <p:nvPr/>
        </p:nvPicPr>
        <p:blipFill>
          <a:blip r:embed="rId3"/>
          <a:srcRect l="0" r="0" t="0" b="0"/>
          <a:stretch/>
        </p:blipFill>
        <p:spPr>
          <a:xfrm>
            <a:off x="8233664" y="2608833"/>
            <a:ext cx="355600" cy="355600"/>
          </a:xfrm>
          <a:prstGeom prst="rect">
            <a:avLst/>
          </a:prstGeom>
        </p:spPr>
      </p:pic>
      <p:sp>
        <p:nvSpPr>
          <p:cNvPr id="14" name="Text 9"/>
          <p:cNvSpPr/>
          <p:nvPr/>
        </p:nvSpPr>
        <p:spPr>
          <a:xfrm>
            <a:off x="8233664" y="3053333"/>
            <a:ext cx="2974096"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Helvetica Neue" pitchFamily="34" charset="0"/>
                <a:ea typeface="Helvetica Neue" pitchFamily="34" charset="-122"/>
                <a:cs typeface="Helvetica Neue" pitchFamily="34" charset="-120"/>
              </a:rPr>
              <a:t>Upload anytime</a:t>
            </a:r>
            <a:endParaRPr lang="en-US" sz="1200" dirty="0"/>
          </a:p>
        </p:txBody>
      </p:sp>
      <p:sp>
        <p:nvSpPr>
          <p:cNvPr id="15" name="Text 10"/>
          <p:cNvSpPr/>
          <p:nvPr/>
        </p:nvSpPr>
        <p:spPr>
          <a:xfrm>
            <a:off x="8233664" y="3325112"/>
            <a:ext cx="2974096"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New applications from a fresh export get picked up automatically</a:t>
            </a:r>
            <a:endParaRPr lang="en-US" sz="1000" dirty="0"/>
          </a:p>
        </p:txBody>
      </p:sp>
      <p:sp>
        <p:nvSpPr>
          <p:cNvPr id="16" name="Shape 11"/>
          <p:cNvSpPr/>
          <p:nvPr/>
        </p:nvSpPr>
        <p:spPr>
          <a:xfrm>
            <a:off x="812800" y="4192777"/>
            <a:ext cx="10566400" cy="688340"/>
          </a:xfrm>
          <a:prstGeom prst="roundRect">
            <a:avLst>
              <a:gd name="adj" fmla="val 18450"/>
            </a:avLst>
          </a:prstGeom>
          <a:solidFill>
            <a:srgbClr val="14213D"/>
          </a:solidFill>
          <a:ln/>
        </p:spPr>
      </p:sp>
      <p:sp>
        <p:nvSpPr>
          <p:cNvPr id="17" name="Text 12"/>
          <p:cNvSpPr/>
          <p:nvPr/>
        </p:nvSpPr>
        <p:spPr>
          <a:xfrm>
            <a:off x="1117600" y="4421377"/>
            <a:ext cx="1025550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7F0"/>
                </a:solidFill>
                <a:latin typeface="Helvetica Neue" pitchFamily="34" charset="0"/>
                <a:ea typeface="Helvetica Neue" pitchFamily="34" charset="-122"/>
                <a:cs typeface="Helvetica Neue" pitchFamily="34" charset="-120"/>
              </a:rPr>
              <a:t>In short: you can re-upload your export as often as you like. You'll never lose a status update by doing it.</a:t>
            </a:r>
            <a:endParaRPr lang="en-US" sz="1300" dirty="0"/>
          </a:p>
        </p:txBody>
      </p:sp>
      <p:sp>
        <p:nvSpPr>
          <p:cNvPr id="18" name="Text 13"/>
          <p:cNvSpPr/>
          <p:nvPr/>
        </p:nvSpPr>
        <p:spPr>
          <a:xfrm>
            <a:off x="812800" y="6256018"/>
            <a:ext cx="220683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SBA Document Checklist — Demo</a:t>
            </a:r>
            <a:endParaRPr lang="en-US" sz="1100" dirty="0"/>
          </a:p>
        </p:txBody>
      </p:sp>
      <p:sp>
        <p:nvSpPr>
          <p:cNvPr id="19" name="Text 14"/>
          <p:cNvSpPr/>
          <p:nvPr/>
        </p:nvSpPr>
        <p:spPr>
          <a:xfrm>
            <a:off x="11223815" y="6256018"/>
            <a:ext cx="20618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812800" y="812800"/>
            <a:ext cx="10883392" cy="521970"/>
          </a:xfrm>
          <a:prstGeom prst="rect">
            <a:avLst/>
          </a:prstGeom>
          <a:noFill/>
          <a:ln/>
        </p:spPr>
        <p:txBody>
          <a:bodyPr wrap="square" lIns="0" tIns="0" rIns="0" bIns="0" rtlCol="0" anchor="t">
            <a:normAutofit/>
          </a:bodyPr>
          <a:lstStyle/>
          <a:p>
            <a:pPr algn="l" indent="0" marL="0">
              <a:lnSpc>
                <a:spcPts val="3910"/>
              </a:lnSpc>
              <a:buNone/>
            </a:pPr>
            <a:r>
              <a:rPr lang="en-US" sz="3400" dirty="0">
                <a:solidFill>
                  <a:srgbClr val="14213D"/>
                </a:solidFill>
                <a:latin typeface="Source Serif 4" pitchFamily="34" charset="0"/>
                <a:ea typeface="Source Serif 4" pitchFamily="34" charset="-122"/>
                <a:cs typeface="Source Serif 4" pitchFamily="34" charset="-120"/>
              </a:rPr>
              <a:t>Using it, day to day</a:t>
            </a:r>
            <a:endParaRPr lang="en-US" sz="3400" dirty="0"/>
          </a:p>
        </p:txBody>
      </p:sp>
      <p:sp>
        <p:nvSpPr>
          <p:cNvPr id="3" name="Text 1"/>
          <p:cNvSpPr/>
          <p:nvPr/>
        </p:nvSpPr>
        <p:spPr>
          <a:xfrm>
            <a:off x="863600" y="1751964"/>
            <a:ext cx="558800" cy="41656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C2703D"/>
                </a:solidFill>
                <a:latin typeface="Source Serif 4" pitchFamily="34" charset="0"/>
                <a:ea typeface="Source Serif 4" pitchFamily="34" charset="-122"/>
                <a:cs typeface="Source Serif 4" pitchFamily="34" charset="-120"/>
              </a:rPr>
              <a:t>1</a:t>
            </a:r>
            <a:endParaRPr lang="en-US" sz="2800" dirty="0"/>
          </a:p>
        </p:txBody>
      </p:sp>
      <p:sp>
        <p:nvSpPr>
          <p:cNvPr id="4" name="Text 2"/>
          <p:cNvSpPr/>
          <p:nvPr/>
        </p:nvSpPr>
        <p:spPr>
          <a:xfrm>
            <a:off x="1574800" y="1728468"/>
            <a:ext cx="346515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elvetica Neue" pitchFamily="34" charset="0"/>
                <a:ea typeface="Helvetica Neue" pitchFamily="34" charset="-122"/>
                <a:cs typeface="Helvetica Neue" pitchFamily="34" charset="-120"/>
              </a:rPr>
              <a:t>Sign in with your name</a:t>
            </a:r>
            <a:endParaRPr lang="en-US" sz="1400" dirty="0"/>
          </a:p>
        </p:txBody>
      </p:sp>
      <p:sp>
        <p:nvSpPr>
          <p:cNvPr id="5" name="Text 3"/>
          <p:cNvSpPr/>
          <p:nvPr/>
        </p:nvSpPr>
        <p:spPr>
          <a:xfrm>
            <a:off x="1574800" y="1979929"/>
            <a:ext cx="3465157"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B7280"/>
                </a:solidFill>
                <a:latin typeface="Helvetica Neue" pitchFamily="34" charset="0"/>
                <a:ea typeface="Helvetica Neue" pitchFamily="34" charset="-122"/>
                <a:cs typeface="Helvetica Neue" pitchFamily="34" charset="-120"/>
              </a:rPr>
              <a:t>No passwords to remember — pick your name from a list</a:t>
            </a:r>
            <a:endParaRPr lang="en-US" sz="1050" dirty="0"/>
          </a:p>
        </p:txBody>
      </p:sp>
      <p:pic>
        <p:nvPicPr>
          <p:cNvPr id="6" name="Image 0" descr="line">    </p:cNvPr>
          <p:cNvPicPr>
            <a:picLocks noChangeAspect="1"/>
          </p:cNvPicPr>
          <p:nvPr/>
        </p:nvPicPr>
        <p:blipFill>
          <a:blip r:embed="rId1"/>
          <a:srcRect l="0" r="0" t="-14000" b="-14000"/>
          <a:stretch/>
        </p:blipFill>
        <p:spPr>
          <a:xfrm>
            <a:off x="812800" y="2357118"/>
            <a:ext cx="10566400" cy="8128"/>
          </a:xfrm>
          <a:prstGeom prst="rect">
            <a:avLst/>
          </a:prstGeom>
        </p:spPr>
      </p:pic>
      <p:sp>
        <p:nvSpPr>
          <p:cNvPr id="7" name="Text 4"/>
          <p:cNvSpPr/>
          <p:nvPr/>
        </p:nvSpPr>
        <p:spPr>
          <a:xfrm>
            <a:off x="863600" y="2579241"/>
            <a:ext cx="558800" cy="41656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C2703D"/>
                </a:solidFill>
                <a:latin typeface="Source Serif 4" pitchFamily="34" charset="0"/>
                <a:ea typeface="Source Serif 4" pitchFamily="34" charset="-122"/>
                <a:cs typeface="Source Serif 4" pitchFamily="34" charset="-120"/>
              </a:rPr>
              <a:t>2</a:t>
            </a:r>
            <a:endParaRPr lang="en-US" sz="2800" dirty="0"/>
          </a:p>
        </p:txBody>
      </p:sp>
      <p:sp>
        <p:nvSpPr>
          <p:cNvPr id="8" name="Text 5"/>
          <p:cNvSpPr/>
          <p:nvPr/>
        </p:nvSpPr>
        <p:spPr>
          <a:xfrm>
            <a:off x="1574800" y="2555748"/>
            <a:ext cx="35043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elvetica Neue" pitchFamily="34" charset="0"/>
                <a:ea typeface="Helvetica Neue" pitchFamily="34" charset="-122"/>
                <a:cs typeface="Helvetica Neue" pitchFamily="34" charset="-120"/>
              </a:rPr>
              <a:t>See every application at a glance</a:t>
            </a:r>
            <a:endParaRPr lang="en-US" sz="1400" dirty="0"/>
          </a:p>
        </p:txBody>
      </p:sp>
      <p:sp>
        <p:nvSpPr>
          <p:cNvPr id="9" name="Text 6"/>
          <p:cNvSpPr/>
          <p:nvPr/>
        </p:nvSpPr>
        <p:spPr>
          <a:xfrm>
            <a:off x="1574800" y="2807208"/>
            <a:ext cx="3504334"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B7280"/>
                </a:solidFill>
                <a:latin typeface="Helvetica Neue" pitchFamily="34" charset="0"/>
                <a:ea typeface="Helvetica Neue" pitchFamily="34" charset="-122"/>
                <a:cs typeface="Helvetica Neue" pitchFamily="34" charset="-120"/>
              </a:rPr>
              <a:t>Sortable, filterable — and stalled ones are flagged for you</a:t>
            </a:r>
            <a:endParaRPr lang="en-US" sz="1050" dirty="0"/>
          </a:p>
        </p:txBody>
      </p:sp>
      <p:pic>
        <p:nvPicPr>
          <p:cNvPr id="10" name="Image 1" descr="line">    </p:cNvPr>
          <p:cNvPicPr>
            <a:picLocks noChangeAspect="1"/>
          </p:cNvPicPr>
          <p:nvPr/>
        </p:nvPicPr>
        <p:blipFill>
          <a:blip r:embed="rId2"/>
          <a:srcRect l="0" r="0" t="-14000" b="-14000"/>
          <a:stretch/>
        </p:blipFill>
        <p:spPr>
          <a:xfrm>
            <a:off x="812800" y="3184398"/>
            <a:ext cx="10566400" cy="8128"/>
          </a:xfrm>
          <a:prstGeom prst="rect">
            <a:avLst/>
          </a:prstGeom>
        </p:spPr>
      </p:pic>
      <p:sp>
        <p:nvSpPr>
          <p:cNvPr id="11" name="Text 7"/>
          <p:cNvSpPr/>
          <p:nvPr/>
        </p:nvSpPr>
        <p:spPr>
          <a:xfrm>
            <a:off x="863600" y="3406521"/>
            <a:ext cx="558800" cy="41656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C2703D"/>
                </a:solidFill>
                <a:latin typeface="Source Serif 4" pitchFamily="34" charset="0"/>
                <a:ea typeface="Source Serif 4" pitchFamily="34" charset="-122"/>
                <a:cs typeface="Source Serif 4" pitchFamily="34" charset="-120"/>
              </a:rPr>
              <a:t>3</a:t>
            </a:r>
            <a:endParaRPr lang="en-US" sz="2800" dirty="0"/>
          </a:p>
        </p:txBody>
      </p:sp>
      <p:sp>
        <p:nvSpPr>
          <p:cNvPr id="12" name="Text 8"/>
          <p:cNvSpPr/>
          <p:nvPr/>
        </p:nvSpPr>
        <p:spPr>
          <a:xfrm>
            <a:off x="1574800" y="3383025"/>
            <a:ext cx="261541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elvetica Neue" pitchFamily="34" charset="0"/>
                <a:ea typeface="Helvetica Neue" pitchFamily="34" charset="-122"/>
                <a:cs typeface="Helvetica Neue" pitchFamily="34" charset="-120"/>
              </a:rPr>
              <a:t>Update a status with one click</a:t>
            </a:r>
            <a:endParaRPr lang="en-US" sz="1400" dirty="0"/>
          </a:p>
        </p:txBody>
      </p:sp>
      <p:sp>
        <p:nvSpPr>
          <p:cNvPr id="13" name="Text 9"/>
          <p:cNvSpPr/>
          <p:nvPr/>
        </p:nvSpPr>
        <p:spPr>
          <a:xfrm>
            <a:off x="1574800" y="3634485"/>
            <a:ext cx="2615415"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B7280"/>
                </a:solidFill>
                <a:latin typeface="Helvetica Neue" pitchFamily="34" charset="0"/>
                <a:ea typeface="Helvetica Neue" pitchFamily="34" charset="-122"/>
                <a:cs typeface="Helvetica Neue" pitchFamily="34" charset="-120"/>
              </a:rPr>
              <a:t>Same motion as editing a spreadsheet cell</a:t>
            </a:r>
            <a:endParaRPr lang="en-US" sz="1050" dirty="0"/>
          </a:p>
        </p:txBody>
      </p:sp>
      <p:pic>
        <p:nvPicPr>
          <p:cNvPr id="14" name="Image 2" descr="line">    </p:cNvPr>
          <p:cNvPicPr>
            <a:picLocks noChangeAspect="1"/>
          </p:cNvPicPr>
          <p:nvPr/>
        </p:nvPicPr>
        <p:blipFill>
          <a:blip r:embed="rId3"/>
          <a:srcRect l="0" r="0" t="-14000" b="-14000"/>
          <a:stretch/>
        </p:blipFill>
        <p:spPr>
          <a:xfrm>
            <a:off x="812800" y="4011675"/>
            <a:ext cx="10566400" cy="8128"/>
          </a:xfrm>
          <a:prstGeom prst="rect">
            <a:avLst/>
          </a:prstGeom>
        </p:spPr>
      </p:pic>
      <p:sp>
        <p:nvSpPr>
          <p:cNvPr id="15" name="Text 10"/>
          <p:cNvSpPr/>
          <p:nvPr/>
        </p:nvSpPr>
        <p:spPr>
          <a:xfrm>
            <a:off x="863600" y="4233797"/>
            <a:ext cx="558800" cy="41656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C2703D"/>
                </a:solidFill>
                <a:latin typeface="Source Serif 4" pitchFamily="34" charset="0"/>
                <a:ea typeface="Source Serif 4" pitchFamily="34" charset="-122"/>
                <a:cs typeface="Source Serif 4" pitchFamily="34" charset="-120"/>
              </a:rPr>
              <a:t>4</a:t>
            </a:r>
            <a:endParaRPr lang="en-US" sz="2800" dirty="0"/>
          </a:p>
        </p:txBody>
      </p:sp>
      <p:sp>
        <p:nvSpPr>
          <p:cNvPr id="16" name="Text 11"/>
          <p:cNvSpPr/>
          <p:nvPr/>
        </p:nvSpPr>
        <p:spPr>
          <a:xfrm>
            <a:off x="1574800" y="4210304"/>
            <a:ext cx="389068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elvetica Neue" pitchFamily="34" charset="0"/>
                <a:ea typeface="Helvetica Neue" pitchFamily="34" charset="-122"/>
                <a:cs typeface="Helvetica Neue" pitchFamily="34" charset="-120"/>
              </a:rPr>
              <a:t>Check the dashboard for the weekly picture</a:t>
            </a:r>
            <a:endParaRPr lang="en-US" sz="1400" dirty="0"/>
          </a:p>
        </p:txBody>
      </p:sp>
      <p:sp>
        <p:nvSpPr>
          <p:cNvPr id="17" name="Text 12"/>
          <p:cNvSpPr/>
          <p:nvPr/>
        </p:nvSpPr>
        <p:spPr>
          <a:xfrm>
            <a:off x="1574800" y="4461762"/>
            <a:ext cx="389068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B7280"/>
                </a:solidFill>
                <a:latin typeface="Helvetica Neue" pitchFamily="34" charset="0"/>
                <a:ea typeface="Helvetica Neue" pitchFamily="34" charset="-122"/>
                <a:cs typeface="Helvetica Neue" pitchFamily="34" charset="-120"/>
              </a:rPr>
              <a:t>The Monday summary, always up to date, no compiling required</a:t>
            </a:r>
            <a:endParaRPr lang="en-US" sz="1050" dirty="0"/>
          </a:p>
        </p:txBody>
      </p:sp>
      <p:sp>
        <p:nvSpPr>
          <p:cNvPr id="18" name="Text 13"/>
          <p:cNvSpPr/>
          <p:nvPr/>
        </p:nvSpPr>
        <p:spPr>
          <a:xfrm>
            <a:off x="812800" y="6256018"/>
            <a:ext cx="220683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SBA Document Checklist — Demo</a:t>
            </a:r>
            <a:endParaRPr lang="en-US" sz="1100" dirty="0"/>
          </a:p>
        </p:txBody>
      </p:sp>
      <p:sp>
        <p:nvSpPr>
          <p:cNvPr id="19" name="Text 14"/>
          <p:cNvSpPr/>
          <p:nvPr/>
        </p:nvSpPr>
        <p:spPr>
          <a:xfrm>
            <a:off x="11223815" y="6256018"/>
            <a:ext cx="20618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791200" y="2754629"/>
            <a:ext cx="609600" cy="38100"/>
          </a:xfrm>
          <a:prstGeom prst="roundRect">
            <a:avLst>
              <a:gd name="adj" fmla="val 50000"/>
            </a:avLst>
          </a:prstGeom>
          <a:solidFill>
            <a:srgbClr val="C2703D"/>
          </a:solidFill>
          <a:ln/>
        </p:spPr>
      </p:sp>
      <p:sp>
        <p:nvSpPr>
          <p:cNvPr id="3" name="Text 1"/>
          <p:cNvSpPr/>
          <p:nvPr/>
        </p:nvSpPr>
        <p:spPr>
          <a:xfrm>
            <a:off x="4546686" y="2970529"/>
            <a:ext cx="3098627" cy="695960"/>
          </a:xfrm>
          <a:prstGeom prst="rect">
            <a:avLst/>
          </a:prstGeom>
          <a:noFill/>
          <a:ln/>
        </p:spPr>
        <p:txBody>
          <a:bodyPr wrap="square" lIns="0" tIns="0" rIns="0" bIns="0" rtlCol="0" anchor="t">
            <a:normAutofit/>
          </a:bodyPr>
          <a:lstStyle/>
          <a:p>
            <a:pPr algn="ctr" indent="0" marL="0">
              <a:lnSpc>
                <a:spcPts val="5280"/>
              </a:lnSpc>
              <a:buNone/>
            </a:pPr>
            <a:r>
              <a:rPr lang="en-US" sz="4800" dirty="0">
                <a:solidFill>
                  <a:srgbClr val="FAF7F0"/>
                </a:solidFill>
                <a:latin typeface="Source Serif 4" pitchFamily="34" charset="0"/>
                <a:ea typeface="Source Serif 4" pitchFamily="34" charset="-122"/>
                <a:cs typeface="Source Serif 4" pitchFamily="34" charset="-120"/>
              </a:rPr>
              <a:t>Live demo</a:t>
            </a:r>
            <a:endParaRPr lang="en-US" sz="4800" dirty="0"/>
          </a:p>
        </p:txBody>
      </p:sp>
      <p:sp>
        <p:nvSpPr>
          <p:cNvPr id="4" name="Text 2"/>
          <p:cNvSpPr/>
          <p:nvPr/>
        </p:nvSpPr>
        <p:spPr>
          <a:xfrm>
            <a:off x="3382674" y="3818889"/>
            <a:ext cx="5426587"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C9CDD8"/>
                </a:solidFill>
                <a:latin typeface="Helvetica Neue" pitchFamily="34" charset="0"/>
                <a:ea typeface="Helvetica Neue" pitchFamily="34" charset="-122"/>
                <a:cs typeface="Helvetica Neue" pitchFamily="34" charset="-120"/>
              </a:rPr>
              <a:t>Let's walk through it together, with your actual sample data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812800" y="812800"/>
            <a:ext cx="10883392" cy="521970"/>
          </a:xfrm>
          <a:prstGeom prst="rect">
            <a:avLst/>
          </a:prstGeom>
          <a:noFill/>
          <a:ln/>
        </p:spPr>
        <p:txBody>
          <a:bodyPr wrap="square" lIns="0" tIns="0" rIns="0" bIns="0" rtlCol="0" anchor="t">
            <a:normAutofit/>
          </a:bodyPr>
          <a:lstStyle/>
          <a:p>
            <a:pPr algn="l" indent="0" marL="0">
              <a:lnSpc>
                <a:spcPts val="3910"/>
              </a:lnSpc>
              <a:buNone/>
            </a:pPr>
            <a:r>
              <a:rPr lang="en-US" sz="3400" dirty="0">
                <a:solidFill>
                  <a:srgbClr val="14213D"/>
                </a:solidFill>
                <a:latin typeface="Source Serif 4" pitchFamily="34" charset="0"/>
                <a:ea typeface="Source Serif 4" pitchFamily="34" charset="-122"/>
                <a:cs typeface="Source Serif 4" pitchFamily="34" charset="-120"/>
              </a:rPr>
              <a:t>What's next</a:t>
            </a:r>
            <a:endParaRPr lang="en-US" sz="3400" dirty="0"/>
          </a:p>
        </p:txBody>
      </p:sp>
      <p:sp>
        <p:nvSpPr>
          <p:cNvPr id="3" name="Text 1"/>
          <p:cNvSpPr/>
          <p:nvPr/>
        </p:nvSpPr>
        <p:spPr>
          <a:xfrm>
            <a:off x="812800" y="1537968"/>
            <a:ext cx="91567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Helvetica Neue" pitchFamily="34" charset="0"/>
                <a:ea typeface="Helvetica Neue" pitchFamily="34" charset="-122"/>
                <a:cs typeface="Helvetica Neue" pitchFamily="34" charset="-120"/>
              </a:rPr>
              <a:t>None of this is required to start using the tool today — here's what we'd add with more time</a:t>
            </a:r>
            <a:endParaRPr lang="en-US" sz="1300" dirty="0"/>
          </a:p>
        </p:txBody>
      </p:sp>
      <p:sp>
        <p:nvSpPr>
          <p:cNvPr id="4" name="Shape 2"/>
          <p:cNvSpPr/>
          <p:nvPr/>
        </p:nvSpPr>
        <p:spPr>
          <a:xfrm>
            <a:off x="815975" y="2000883"/>
            <a:ext cx="5187950" cy="1068578"/>
          </a:xfrm>
          <a:prstGeom prst="roundRect">
            <a:avLst>
              <a:gd name="adj" fmla="val 9211"/>
            </a:avLst>
          </a:prstGeom>
          <a:solidFill>
            <a:srgbClr val="FFFFFF"/>
          </a:solidFill>
          <a:ln w="6350">
            <a:solidFill>
              <a:srgbClr val="E3DDD0"/>
            </a:solidFill>
            <a:prstDash val="solid"/>
          </a:ln>
        </p:spPr>
      </p:sp>
      <p:sp>
        <p:nvSpPr>
          <p:cNvPr id="5" name="Text 3"/>
          <p:cNvSpPr/>
          <p:nvPr/>
        </p:nvSpPr>
        <p:spPr>
          <a:xfrm>
            <a:off x="1045464" y="2230372"/>
            <a:ext cx="4870841"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14213D"/>
                </a:solidFill>
                <a:latin typeface="Helvetica Neue" pitchFamily="34" charset="0"/>
                <a:ea typeface="Helvetica Neue" pitchFamily="34" charset="-122"/>
                <a:cs typeface="Helvetica Neue" pitchFamily="34" charset="-120"/>
              </a:rPr>
              <a:t>Always-on alerts</a:t>
            </a:r>
            <a:endParaRPr lang="en-US" sz="1250" dirty="0"/>
          </a:p>
        </p:txBody>
      </p:sp>
      <p:sp>
        <p:nvSpPr>
          <p:cNvPr id="6" name="Text 4"/>
          <p:cNvSpPr/>
          <p:nvPr/>
        </p:nvSpPr>
        <p:spPr>
          <a:xfrm>
            <a:off x="1045464" y="2484372"/>
            <a:ext cx="4870841"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Alerts today send when someone opens the dashboard — next step is a true schedule, so it happens even if no one's logged in that day</a:t>
            </a:r>
            <a:endParaRPr lang="en-US" sz="1000" dirty="0"/>
          </a:p>
        </p:txBody>
      </p:sp>
      <p:sp>
        <p:nvSpPr>
          <p:cNvPr id="7" name="Shape 5"/>
          <p:cNvSpPr/>
          <p:nvPr/>
        </p:nvSpPr>
        <p:spPr>
          <a:xfrm>
            <a:off x="6188075" y="2000883"/>
            <a:ext cx="5187950" cy="1068578"/>
          </a:xfrm>
          <a:prstGeom prst="roundRect">
            <a:avLst>
              <a:gd name="adj" fmla="val 9211"/>
            </a:avLst>
          </a:prstGeom>
          <a:solidFill>
            <a:srgbClr val="FFFFFF"/>
          </a:solidFill>
          <a:ln w="6350">
            <a:solidFill>
              <a:srgbClr val="E3DDD0"/>
            </a:solidFill>
            <a:prstDash val="solid"/>
          </a:ln>
        </p:spPr>
      </p:sp>
      <p:sp>
        <p:nvSpPr>
          <p:cNvPr id="8" name="Text 6"/>
          <p:cNvSpPr/>
          <p:nvPr/>
        </p:nvSpPr>
        <p:spPr>
          <a:xfrm>
            <a:off x="6417564" y="2230372"/>
            <a:ext cx="4870841"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14213D"/>
                </a:solidFill>
                <a:latin typeface="Helvetica Neue" pitchFamily="34" charset="0"/>
                <a:ea typeface="Helvetica Neue" pitchFamily="34" charset="-122"/>
                <a:cs typeface="Helvetica Neue" pitchFamily="34" charset="-120"/>
              </a:rPr>
              <a:t>Flag documents never uploaded</a:t>
            </a:r>
            <a:endParaRPr lang="en-US" sz="1250" dirty="0"/>
          </a:p>
        </p:txBody>
      </p:sp>
      <p:sp>
        <p:nvSpPr>
          <p:cNvPr id="9" name="Text 7"/>
          <p:cNvSpPr/>
          <p:nvPr/>
        </p:nvSpPr>
        <p:spPr>
          <a:xfrm>
            <a:off x="6417564" y="2484372"/>
            <a:ext cx="4870841"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Catch a required document that was never logged at all, not just ones sitting as pending</a:t>
            </a:r>
            <a:endParaRPr lang="en-US" sz="1000" dirty="0"/>
          </a:p>
        </p:txBody>
      </p:sp>
      <p:sp>
        <p:nvSpPr>
          <p:cNvPr id="10" name="Shape 8"/>
          <p:cNvSpPr/>
          <p:nvPr/>
        </p:nvSpPr>
        <p:spPr>
          <a:xfrm>
            <a:off x="815975" y="3253612"/>
            <a:ext cx="5187950" cy="1068578"/>
          </a:xfrm>
          <a:prstGeom prst="roundRect">
            <a:avLst>
              <a:gd name="adj" fmla="val 9211"/>
            </a:avLst>
          </a:prstGeom>
          <a:solidFill>
            <a:srgbClr val="FFFFFF"/>
          </a:solidFill>
          <a:ln w="6350">
            <a:solidFill>
              <a:srgbClr val="E3DDD0"/>
            </a:solidFill>
            <a:prstDash val="solid"/>
          </a:ln>
        </p:spPr>
      </p:sp>
      <p:sp>
        <p:nvSpPr>
          <p:cNvPr id="11" name="Text 9"/>
          <p:cNvSpPr/>
          <p:nvPr/>
        </p:nvSpPr>
        <p:spPr>
          <a:xfrm>
            <a:off x="1045464" y="3483102"/>
            <a:ext cx="4870841"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14213D"/>
                </a:solidFill>
                <a:latin typeface="Helvetica Neue" pitchFamily="34" charset="0"/>
                <a:ea typeface="Helvetica Neue" pitchFamily="34" charset="-122"/>
                <a:cs typeface="Helvetica Neue" pitchFamily="34" charset="-120"/>
              </a:rPr>
              <a:t>Sign in with your company account</a:t>
            </a:r>
            <a:endParaRPr lang="en-US" sz="1250" dirty="0"/>
          </a:p>
        </p:txBody>
      </p:sp>
      <p:sp>
        <p:nvSpPr>
          <p:cNvPr id="12" name="Text 10"/>
          <p:cNvSpPr/>
          <p:nvPr/>
        </p:nvSpPr>
        <p:spPr>
          <a:xfrm>
            <a:off x="1045464" y="3737102"/>
            <a:ext cx="487084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The tool is already built to support this — it's a small addition, not a rebuild</a:t>
            </a:r>
            <a:endParaRPr lang="en-US" sz="1000" dirty="0"/>
          </a:p>
        </p:txBody>
      </p:sp>
      <p:sp>
        <p:nvSpPr>
          <p:cNvPr id="13" name="Shape 11"/>
          <p:cNvSpPr/>
          <p:nvPr/>
        </p:nvSpPr>
        <p:spPr>
          <a:xfrm>
            <a:off x="6188075" y="3253612"/>
            <a:ext cx="5187950" cy="1068578"/>
          </a:xfrm>
          <a:prstGeom prst="roundRect">
            <a:avLst>
              <a:gd name="adj" fmla="val 9211"/>
            </a:avLst>
          </a:prstGeom>
          <a:solidFill>
            <a:srgbClr val="FFFFFF"/>
          </a:solidFill>
          <a:ln w="6350">
            <a:solidFill>
              <a:srgbClr val="E3DDD0"/>
            </a:solidFill>
            <a:prstDash val="solid"/>
          </a:ln>
        </p:spPr>
      </p:sp>
      <p:sp>
        <p:nvSpPr>
          <p:cNvPr id="14" name="Text 12"/>
          <p:cNvSpPr/>
          <p:nvPr/>
        </p:nvSpPr>
        <p:spPr>
          <a:xfrm>
            <a:off x="6417564" y="3483102"/>
            <a:ext cx="4870841"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14213D"/>
                </a:solidFill>
                <a:latin typeface="Helvetica Neue" pitchFamily="34" charset="0"/>
                <a:ea typeface="Helvetica Neue" pitchFamily="34" charset="-122"/>
                <a:cs typeface="Helvetica Neue" pitchFamily="34" charset="-120"/>
              </a:rPr>
              <a:t>Add new applications directly</a:t>
            </a:r>
            <a:endParaRPr lang="en-US" sz="1250" dirty="0"/>
          </a:p>
        </p:txBody>
      </p:sp>
      <p:sp>
        <p:nvSpPr>
          <p:cNvPr id="15" name="Text 13"/>
          <p:cNvSpPr/>
          <p:nvPr/>
        </p:nvSpPr>
        <p:spPr>
          <a:xfrm>
            <a:off x="6417564" y="3737102"/>
            <a:ext cx="4870841"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7280"/>
                </a:solidFill>
                <a:latin typeface="Helvetica Neue" pitchFamily="34" charset="0"/>
                <a:ea typeface="Helvetica Neue" pitchFamily="34" charset="-122"/>
                <a:cs typeface="Helvetica Neue" pitchFamily="34" charset="-120"/>
              </a:rPr>
              <a:t>Right now new applications arrive through your spreadsheet export — a built-in form is the natural next step</a:t>
            </a:r>
            <a:endParaRPr lang="en-US" sz="1000" dirty="0"/>
          </a:p>
        </p:txBody>
      </p:sp>
      <p:sp>
        <p:nvSpPr>
          <p:cNvPr id="16" name="Text 14"/>
          <p:cNvSpPr/>
          <p:nvPr/>
        </p:nvSpPr>
        <p:spPr>
          <a:xfrm>
            <a:off x="812800" y="6256021"/>
            <a:ext cx="220683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SBA Document Checklist — Demo</a:t>
            </a:r>
            <a:endParaRPr lang="en-US" sz="1100" dirty="0"/>
          </a:p>
        </p:txBody>
      </p:sp>
      <p:sp>
        <p:nvSpPr>
          <p:cNvPr id="17" name="Text 15"/>
          <p:cNvSpPr/>
          <p:nvPr/>
        </p:nvSpPr>
        <p:spPr>
          <a:xfrm>
            <a:off x="11223815" y="6256021"/>
            <a:ext cx="20618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9488"/>
                </a:solidFill>
                <a:latin typeface="Helvetica Neue" pitchFamily="34" charset="0"/>
                <a:ea typeface="Helvetica Neue" pitchFamily="34" charset="-122"/>
                <a:cs typeface="Helvetica Neue" pitchFamily="34" charset="-120"/>
              </a:rPr>
              <a:t>08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SBA Document Checklist — Demo Deck</dc:title>
  <dc:subject>PptxGenJS Presentation</dc:subject>
  <dc:creator>PptxGenJS</dc:creator>
  <cp:lastModifiedBy>PptxGenJS</cp:lastModifiedBy>
  <cp:revision>1</cp:revision>
  <dcterms:created xsi:type="dcterms:W3CDTF">2026-09-25T13:14:11Z</dcterms:created>
  <dcterms:modified xsi:type="dcterms:W3CDTF">2026-09-25T13:14:11Z</dcterms:modified>
</cp:coreProperties>
</file>